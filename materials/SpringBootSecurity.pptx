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239F-2650-4D9C-C65D-A258F4F45B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4807A-FFF4-9702-AFBB-03E3196EC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5B31D-86F9-5CFE-67B6-56E8611C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A3476-111D-3F93-3F3D-A95CC337B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AD80D-5FA3-4597-1297-B810274E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971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2F8F9-E0F1-9DBD-5947-8A424F08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C5D8D-70C1-553A-BF41-C2490F92F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54DDD-AA33-86CC-1AA2-6AEFE0AB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405F-E943-F08A-33E7-FEFD8AA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7DEE5-7084-A968-5E1A-A1237725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703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ECA36-3D62-8821-6A3A-314A9EBB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5EA2F-B7C2-B2C8-0B50-91423E02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57C2D-30E3-5CBD-6A6D-B63273455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29449-16B7-7B30-3524-03595145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4383-4FE5-B23F-D2E8-AB36CE70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400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24750-D315-F9BF-0330-CBEF3CDA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64628-07F2-E7F0-08EB-BBB77EA2B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A416B-F36A-B6C4-A8D9-8B1817742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EC374-8299-67FA-1DF7-38EF1D6C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8B3AE-6439-7E71-F721-624C03420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F5721-324E-DCEF-CB5D-7BBDD615A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080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F70C7-EE3C-9E05-9AD2-60C42BA5A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5BBB0-E489-FC31-3E1C-9870108D0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6C450-3EF1-BC85-3867-497A3850D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542CAA-68CC-A32E-C2A3-153B5FA1ED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24DAD-EA42-368A-B3EA-1397CE009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3D4FD-F212-696D-11C9-2509E6AA5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B4393-92D1-7621-F159-03BB854F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C239B-A9C1-2390-01EF-30D756C6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96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8DECA-8B69-E506-8AAF-2EAD021A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B1F9E8-9D3B-4D11-A671-0EA2BC370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CB172-6376-A1B0-A7EA-631241F38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B291B9-E8C5-457A-1A3F-536B1CF15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42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C2D88-733B-5195-7366-345660CB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1C607B-9F5A-08E8-FFB0-DA713153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6A275-EF1C-AEC3-34DB-17209264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675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9FBF5-8562-7949-CB80-017354C7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96327-DA3A-6120-2DCA-F4883C682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9BE0A-DF49-3FC6-C5B2-A61E9B883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88F5C-D39A-BC04-9C29-E35D376B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C1699-9D74-7B4A-8069-72545ACD5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3DC6A-37B6-77F8-C009-9376B2FD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68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9E59-59A1-2A5D-47BA-906284002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4A9B1-4890-2D92-2496-DC653EDBBD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AE37D-5D89-48FD-9F48-CE2F3487D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A113-E1F9-CB4B-D070-F237D26F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548A3-FE7A-E09B-9EED-EF8CC1FF1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4F0C4-832C-AFDF-C606-81128E44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45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76AD-EF32-FA35-E4BD-EBDD61CC2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8CFD0-A1E0-E022-CCF1-A3A171153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AA6F3-F6EF-8AFE-3435-9BB97889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AA354-ED4E-425D-ACD6-07FDA722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167A4-5883-88E3-708A-4DC1A8CE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61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73C46-0B89-C8E1-8FCB-54BC7C9D5B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4513F-B609-1973-E54C-F764ED080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8265-94A2-D3E0-199F-E17FFA5A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97862-4396-1288-37A8-4B0187417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B05BA-A295-9605-6ACB-E03CCB4B8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557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2789C9-BE9B-7338-23DF-4F6117BF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73ED5-3B02-6E24-BE0F-D5B12CBB0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E2FD4-C1E2-67F5-D4C1-FE93817D1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A75B8-A8D9-410F-8514-58D4BE3172A4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DFD1-8FD2-356A-78EB-13763E169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BE3F6-BFF9-83B9-2B06-9FC834946A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A78F9-D341-4190-AF1F-EF03247041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65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E29130-A461-8254-E939-3D70E926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Security Architecture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36A36-5FED-0746-9383-058E53B77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33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C55E51-4BDA-4044-5F72-EF572CC0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Components in Spring Security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60B2286-A696-1C2E-5344-490F540EF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5132" y="2676329"/>
            <a:ext cx="7645793" cy="381654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F0112C-7ACE-4074-CAF5-499DA6859EDB}"/>
              </a:ext>
            </a:extLst>
          </p:cNvPr>
          <p:cNvSpPr/>
          <p:nvPr/>
        </p:nvSpPr>
        <p:spPr>
          <a:xfrm>
            <a:off x="838200" y="1774371"/>
            <a:ext cx="10210800" cy="7946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The following diagram shows how an HTTP request is processed through the Spring Security filter chain to handle authentication and authorization before returning the response.</a:t>
            </a:r>
          </a:p>
        </p:txBody>
      </p:sp>
    </p:spTree>
    <p:extLst>
      <p:ext uri="{BB962C8B-B14F-4D97-AF65-F5344CB8AC3E}">
        <p14:creationId xmlns:p14="http://schemas.microsoft.com/office/powerpoint/2010/main" val="57239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7116-075A-95D3-0E03-48442EE6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Filter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AE3D1-6D06-C4B4-A659-333694D67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Acts as the entry point for all incoming HTTP requests in Spring Security</a:t>
            </a:r>
          </a:p>
          <a:p>
            <a:r>
              <a:rPr lang="en-IN" dirty="0"/>
              <a:t>Every request passes through a chain of filters such as </a:t>
            </a:r>
            <a:r>
              <a:rPr lang="en-IN" dirty="0" err="1"/>
              <a:t>UsernamePasswordAuthenticationFilter</a:t>
            </a:r>
            <a:r>
              <a:rPr lang="en-IN" dirty="0"/>
              <a:t> and </a:t>
            </a:r>
            <a:r>
              <a:rPr lang="en-IN" dirty="0" err="1"/>
              <a:t>BasicAuthenticationFilter</a:t>
            </a:r>
            <a:endParaRPr lang="en-IN" dirty="0"/>
          </a:p>
          <a:p>
            <a:r>
              <a:rPr lang="en-IN" dirty="0"/>
              <a:t>Handles authentication, authorization, CSRF protection, and session management</a:t>
            </a:r>
          </a:p>
          <a:p>
            <a:r>
              <a:rPr lang="en-IN" dirty="0"/>
              <a:t>Ensures a modular and customizable security flow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752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DF1380-DFA6-F7F9-C6E1-BF2C273A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SecurityFilterChain</a:t>
            </a:r>
            <a:r>
              <a:rPr lang="en-IN" dirty="0"/>
              <a:t> Bean 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E0B0445-A75F-393E-1BE5-AEC4A7188D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643256" y="2079171"/>
            <a:ext cx="3145973" cy="429218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CACC53-BAF4-3D8F-695F-1DB132263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7805057" cy="4351338"/>
          </a:xfrm>
        </p:spPr>
        <p:txBody>
          <a:bodyPr>
            <a:normAutofit/>
          </a:bodyPr>
          <a:lstStyle/>
          <a:p>
            <a:r>
              <a:rPr lang="en-IN" dirty="0" err="1"/>
              <a:t>SecurityFilterChain</a:t>
            </a:r>
            <a:r>
              <a:rPr lang="en-IN" dirty="0"/>
              <a:t> is a Spring Security bean that defines how incoming HTTP requests are secured. </a:t>
            </a:r>
          </a:p>
          <a:p>
            <a:r>
              <a:rPr lang="en-IN" dirty="0"/>
              <a:t>It configures authentication, authorization, login mechanisms, session management, CSRF protection, and custom filters.</a:t>
            </a:r>
          </a:p>
          <a:p>
            <a:r>
              <a:rPr lang="en-IN" dirty="0"/>
              <a:t>When Spring Boot detects a </a:t>
            </a:r>
            <a:r>
              <a:rPr lang="en-IN" dirty="0" err="1"/>
              <a:t>SecurityFilterChain</a:t>
            </a:r>
            <a:r>
              <a:rPr lang="en-IN" dirty="0"/>
              <a:t> bean, it uses that configuration instead of the default security auto-configuration</a:t>
            </a:r>
          </a:p>
          <a:p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476B2C-2AC8-8903-5F20-22167D83E64D}"/>
              </a:ext>
            </a:extLst>
          </p:cNvPr>
          <p:cNvSpPr/>
          <p:nvPr/>
        </p:nvSpPr>
        <p:spPr>
          <a:xfrm>
            <a:off x="8643256" y="1581603"/>
            <a:ext cx="3145973" cy="497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Request Flow</a:t>
            </a:r>
          </a:p>
        </p:txBody>
      </p:sp>
    </p:spTree>
    <p:extLst>
      <p:ext uri="{BB962C8B-B14F-4D97-AF65-F5344CB8AC3E}">
        <p14:creationId xmlns:p14="http://schemas.microsoft.com/office/powerpoint/2010/main" val="277341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622A5-8E7F-C958-52C5-D2EF885E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Configuration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8F76D24-AF27-DBC2-7985-40FE693AC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830" y="2204348"/>
            <a:ext cx="8284028" cy="415998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E48973E-8B21-2C43-90BC-3AF795B3E3AE}"/>
              </a:ext>
            </a:extLst>
          </p:cNvPr>
          <p:cNvSpPr/>
          <p:nvPr/>
        </p:nvSpPr>
        <p:spPr>
          <a:xfrm>
            <a:off x="587829" y="1349828"/>
            <a:ext cx="11255828" cy="843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In </a:t>
            </a:r>
            <a:r>
              <a:rPr lang="en-IN" b="1" dirty="0"/>
              <a:t>Spring Security 6 / Spring Boot 3</a:t>
            </a:r>
            <a:r>
              <a:rPr lang="en-IN" dirty="0"/>
              <a:t>, the recommended way to configure security is by defining a </a:t>
            </a:r>
            <a:r>
              <a:rPr lang="en-IN" b="1" dirty="0" err="1"/>
              <a:t>SecurityFilterChain</a:t>
            </a:r>
            <a:r>
              <a:rPr lang="en-IN" b="1" dirty="0"/>
              <a:t> bean</a:t>
            </a:r>
            <a:r>
              <a:rPr lang="en-IN" dirty="0"/>
              <a:t>. This replaces the older </a:t>
            </a:r>
            <a:r>
              <a:rPr lang="en-IN" dirty="0" err="1"/>
              <a:t>WebSecurityConfigurerAdapter</a:t>
            </a:r>
            <a:r>
              <a:rPr lang="en-IN" dirty="0"/>
              <a:t>, which has been removed.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59FF3-50E5-729F-C888-1C2263FEF17D}"/>
              </a:ext>
            </a:extLst>
          </p:cNvPr>
          <p:cNvSpPr/>
          <p:nvPr/>
        </p:nvSpPr>
        <p:spPr>
          <a:xfrm>
            <a:off x="8871858" y="2204348"/>
            <a:ext cx="2971799" cy="41599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/public/** → accessible to everyone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All other URLs → require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Enables default login 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Builds and registers the filter chain</a:t>
            </a:r>
          </a:p>
        </p:txBody>
      </p:sp>
    </p:spTree>
    <p:extLst>
      <p:ext uri="{BB962C8B-B14F-4D97-AF65-F5344CB8AC3E}">
        <p14:creationId xmlns:p14="http://schemas.microsoft.com/office/powerpoint/2010/main" val="216376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09DF3-14B6-ABD8-2BD5-148ABA4D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 Basic Authentication [Useful for RESTful APIs]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F311F0-AD85-66E8-DD80-59B3D9684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7044"/>
            <a:ext cx="10925124" cy="39784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343BD6-F566-F2C5-8218-64CA90DEA0D6}"/>
              </a:ext>
            </a:extLst>
          </p:cNvPr>
          <p:cNvSpPr/>
          <p:nvPr/>
        </p:nvSpPr>
        <p:spPr>
          <a:xfrm>
            <a:off x="5377543" y="5627914"/>
            <a:ext cx="6385781" cy="8649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HTTp</a:t>
            </a:r>
            <a:r>
              <a:rPr lang="en-IN" dirty="0"/>
              <a:t> request must include</a:t>
            </a:r>
          </a:p>
          <a:p>
            <a:pPr algn="ctr"/>
            <a:r>
              <a:rPr lang="en-US" dirty="0"/>
              <a:t>Authorization: Basic base64(</a:t>
            </a:r>
            <a:r>
              <a:rPr lang="en-US" dirty="0" err="1"/>
              <a:t>username:password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8323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1C138-2723-62B9-587B-3B4BA1D5B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B6DF1-D312-27A9-C954-37439F82C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en-IN" dirty="0"/>
              <a:t>Core component responsible for handling user authentication</a:t>
            </a:r>
          </a:p>
          <a:p>
            <a:pPr fontAlgn="base"/>
            <a:r>
              <a:rPr lang="en-IN" dirty="0"/>
              <a:t>Delegates authentication requests to one or more </a:t>
            </a:r>
            <a:r>
              <a:rPr lang="en-IN" dirty="0" err="1"/>
              <a:t>AuthenticationProvider</a:t>
            </a:r>
            <a:r>
              <a:rPr lang="en-IN" dirty="0"/>
              <a:t> instances</a:t>
            </a:r>
          </a:p>
          <a:p>
            <a:pPr fontAlgn="base"/>
            <a:r>
              <a:rPr lang="en-IN" dirty="0"/>
              <a:t>Follows the Strategy design pattern, allowing multiple authentication mechanisms such as DB, LDAP, JWT, and OAuth2</a:t>
            </a:r>
          </a:p>
          <a:p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3A7610-CE13-2E3A-10D6-A2BD33016A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38745" y="2667001"/>
            <a:ext cx="5653349" cy="241067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EB6516-D52B-13AB-2242-9F521AE52497}"/>
              </a:ext>
            </a:extLst>
          </p:cNvPr>
          <p:cNvCxnSpPr/>
          <p:nvPr/>
        </p:nvCxnSpPr>
        <p:spPr>
          <a:xfrm>
            <a:off x="6096000" y="1771651"/>
            <a:ext cx="0" cy="4405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957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4924E-3A1B-F5E6-F672-084890F6E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Authentication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B507C-421D-5156-896C-211764BD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Authentication Providers are the components responsible for validating user credentials</a:t>
            </a:r>
          </a:p>
          <a:p>
            <a:pPr fontAlgn="base"/>
            <a:r>
              <a:rPr lang="en-IN" dirty="0"/>
              <a:t>They process authentication requests coming from the </a:t>
            </a:r>
            <a:r>
              <a:rPr lang="en-IN" dirty="0" err="1"/>
              <a:t>AuthenticationManager</a:t>
            </a:r>
            <a:endParaRPr lang="en-IN" dirty="0"/>
          </a:p>
          <a:p>
            <a:pPr fontAlgn="base"/>
            <a:r>
              <a:rPr lang="en-IN" dirty="0"/>
              <a:t>Different providers support different authentication mechanisms</a:t>
            </a:r>
          </a:p>
          <a:p>
            <a:pPr fontAlgn="base"/>
            <a:r>
              <a:rPr lang="en-IN" dirty="0"/>
              <a:t>Example:</a:t>
            </a:r>
          </a:p>
          <a:p>
            <a:pPr lvl="1" fontAlgn="base"/>
            <a:r>
              <a:rPr lang="en-IN" dirty="0" err="1"/>
              <a:t>DaoAuthenticationProvider</a:t>
            </a:r>
            <a:r>
              <a:rPr lang="en-IN" dirty="0"/>
              <a:t> -&gt; Uses database authentication with </a:t>
            </a:r>
            <a:r>
              <a:rPr lang="en-IN" dirty="0" err="1"/>
              <a:t>UserDetailsService</a:t>
            </a:r>
            <a:r>
              <a:rPr lang="en-IN" dirty="0"/>
              <a:t> and </a:t>
            </a:r>
            <a:r>
              <a:rPr lang="en-IN" dirty="0" err="1"/>
              <a:t>PasswordEncoder</a:t>
            </a:r>
            <a:endParaRPr lang="en-IN" dirty="0"/>
          </a:p>
          <a:p>
            <a:pPr lvl="1" fontAlgn="base"/>
            <a:r>
              <a:rPr lang="en-IN" dirty="0" err="1"/>
              <a:t>JwtAuthenticationProvider</a:t>
            </a:r>
            <a:r>
              <a:rPr lang="en-IN" dirty="0"/>
              <a:t> -&gt; Validates JWT tokens</a:t>
            </a:r>
          </a:p>
          <a:p>
            <a:pPr lvl="1" fontAlgn="base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042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B9487-029F-A427-160D-E1F1441A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UserDetailsService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E044-03E0-FCF5-0288-F5B8064555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45429" cy="4351338"/>
          </a:xfrm>
        </p:spPr>
        <p:txBody>
          <a:bodyPr/>
          <a:lstStyle/>
          <a:p>
            <a:pPr fontAlgn="base"/>
            <a:r>
              <a:rPr lang="en-IN" dirty="0"/>
              <a:t>Loads user-specific data (username, password, roles) from a data source like a database.</a:t>
            </a:r>
          </a:p>
          <a:p>
            <a:pPr fontAlgn="base"/>
            <a:r>
              <a:rPr lang="en-IN" dirty="0"/>
              <a:t>Returns a </a:t>
            </a:r>
            <a:r>
              <a:rPr lang="en-IN" dirty="0" err="1"/>
              <a:t>UserDetails</a:t>
            </a:r>
            <a:r>
              <a:rPr lang="en-IN" dirty="0"/>
              <a:t> object.</a:t>
            </a:r>
          </a:p>
          <a:p>
            <a:pPr fontAlgn="base"/>
            <a:r>
              <a:rPr lang="en-IN" dirty="0"/>
              <a:t>Used primarily by providers like </a:t>
            </a:r>
            <a:r>
              <a:rPr lang="en-IN" dirty="0" err="1"/>
              <a:t>DaoAuthenticationProvider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189BB1-BB01-CDE4-B948-50943CAAC6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12228" y="2118195"/>
            <a:ext cx="6756767" cy="300897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190CE4-07C4-D76D-6118-6D5490D00892}"/>
              </a:ext>
            </a:extLst>
          </p:cNvPr>
          <p:cNvCxnSpPr/>
          <p:nvPr/>
        </p:nvCxnSpPr>
        <p:spPr>
          <a:xfrm>
            <a:off x="5246914" y="1690688"/>
            <a:ext cx="0" cy="44053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315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D1B11-8D6F-F92C-F016-8086604A8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Password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748A0-1870-39B3-1A75-4ACC361FE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IN" dirty="0"/>
              <a:t>Ensures secure password storage and validation.</a:t>
            </a:r>
          </a:p>
          <a:p>
            <a:pPr fontAlgn="base"/>
            <a:r>
              <a:rPr lang="en-IN" dirty="0"/>
              <a:t>Encodes raw passwords into secure hashes before saving/validation.</a:t>
            </a:r>
          </a:p>
          <a:p>
            <a:endParaRPr lang="en-IN" dirty="0"/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11E273B5-191D-46FA-A4D6-4BF8FA0C8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142" y="3429000"/>
            <a:ext cx="8958947" cy="238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70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DF0BE1-0FCF-16B5-4909-5D7DEC0CA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Security Context 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92046-2A2A-6D9F-617F-BD56CF73B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dirty="0"/>
              <a:t>Stores the </a:t>
            </a:r>
            <a:r>
              <a:rPr lang="en-IN" dirty="0" err="1"/>
              <a:t>SecurityContext</a:t>
            </a:r>
            <a:r>
              <a:rPr lang="en-IN" dirty="0"/>
              <a:t> for the current request/thread. And holds the Authentication object, which contains:</a:t>
            </a:r>
          </a:p>
          <a:p>
            <a:pPr fontAlgn="base"/>
            <a:r>
              <a:rPr lang="en-IN" b="1" dirty="0"/>
              <a:t>Principal:</a:t>
            </a:r>
            <a:r>
              <a:rPr lang="en-IN" dirty="0"/>
              <a:t> Represents the logged-in user (username or user object).</a:t>
            </a:r>
          </a:p>
          <a:p>
            <a:pPr fontAlgn="base"/>
            <a:r>
              <a:rPr lang="en-IN" b="1" dirty="0"/>
              <a:t>Authorities:</a:t>
            </a:r>
            <a:r>
              <a:rPr lang="en-IN" dirty="0"/>
              <a:t> Roles/permissions granted to the user.</a:t>
            </a:r>
          </a:p>
          <a:p>
            <a:endParaRPr lang="en-IN" dirty="0"/>
          </a:p>
        </p:txBody>
      </p:sp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B24D7EFE-34EE-2FA6-31A7-ED893ED02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02" y="4180466"/>
            <a:ext cx="10279198" cy="231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36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59BED-CB15-EB14-D67B-669040134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Spring Security Works Internally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F46DD-B172-0553-0E0E-87EA17F25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IN" dirty="0"/>
              <a:t>A client sends an HTTP request to the application.</a:t>
            </a:r>
          </a:p>
          <a:p>
            <a:pPr fontAlgn="base"/>
            <a:r>
              <a:rPr lang="en-IN" dirty="0"/>
              <a:t>The request passes through the Security Filter Chain where multiple security filters are applied.</a:t>
            </a:r>
          </a:p>
          <a:p>
            <a:pPr fontAlgn="base"/>
            <a:r>
              <a:rPr lang="en-IN" dirty="0"/>
              <a:t>The Authentication Manager receives the request and delegates authentication to the appropriate Authentication Provider.</a:t>
            </a:r>
          </a:p>
          <a:p>
            <a:pPr fontAlgn="base"/>
            <a:r>
              <a:rPr lang="en-IN" dirty="0"/>
              <a:t>The Authentication Provider validates credentials using </a:t>
            </a:r>
            <a:r>
              <a:rPr lang="en-IN" dirty="0" err="1"/>
              <a:t>UserDetailsService</a:t>
            </a:r>
            <a:r>
              <a:rPr lang="en-IN" dirty="0"/>
              <a:t> and </a:t>
            </a:r>
            <a:r>
              <a:rPr lang="en-IN" dirty="0" err="1"/>
              <a:t>PasswordEncoder</a:t>
            </a:r>
            <a:r>
              <a:rPr lang="en-IN" dirty="0"/>
              <a:t> (if required).</a:t>
            </a:r>
          </a:p>
          <a:p>
            <a:pPr fontAlgn="base"/>
            <a:r>
              <a:rPr lang="en-IN" dirty="0"/>
              <a:t>On successful authentication, user details are stored in </a:t>
            </a:r>
            <a:r>
              <a:rPr lang="en-IN" dirty="0" err="1"/>
              <a:t>SecurityContextHolder</a:t>
            </a:r>
            <a:r>
              <a:rPr lang="en-IN" dirty="0"/>
              <a:t>.</a:t>
            </a:r>
          </a:p>
          <a:p>
            <a:pPr fontAlgn="base"/>
            <a:r>
              <a:rPr lang="en-IN" dirty="0"/>
              <a:t>Authorization is performed using the stored principal and authorities to check access permissions.</a:t>
            </a:r>
          </a:p>
          <a:p>
            <a:pPr fontAlgn="base"/>
            <a:r>
              <a:rPr lang="en-IN" dirty="0"/>
              <a:t>If all checks pass, the request reaches the controller and an HTTP response is returned.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4635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EE27-3314-D112-B7E8-EF606BF1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Boot Security Auto-Configuration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DDBC5-066A-1B8A-EAF9-146AA4FF2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192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773E8208-F98B-3B4A-D921-AF791998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0D2AF-9BF1-BC0D-2943-EDDCAC870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Spring Boot Security Auto-Configuration</a:t>
            </a:r>
            <a:r>
              <a:rPr lang="en-IN" dirty="0"/>
              <a:t> automatically configures security for your application when the security dependency is present on the </a:t>
            </a:r>
            <a:r>
              <a:rPr lang="en-IN" dirty="0" err="1"/>
              <a:t>classpath</a:t>
            </a:r>
            <a:r>
              <a:rPr lang="en-IN" dirty="0"/>
              <a:t>.</a:t>
            </a:r>
          </a:p>
          <a:p>
            <a:r>
              <a:rPr lang="en-IN" dirty="0"/>
              <a:t>For example, if you add the following code Spring Boot automatically applies a default security configuration without requiring any additional code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13" name="Content Placeholder 8">
            <a:extLst>
              <a:ext uri="{FF2B5EF4-FFF2-40B4-BE49-F238E27FC236}">
                <a16:creationId xmlns:a16="http://schemas.microsoft.com/office/drawing/2014/main" id="{0F62A268-503D-FD8B-CE15-3BED73E2B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568" y="4449384"/>
            <a:ext cx="9011946" cy="204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33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9ACB-7AB9-F873-E3A1-2F34F2D82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gets added automatically?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A186-1A71-CE8C-EDC9-047AB6AAD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Authentication</a:t>
            </a:r>
          </a:p>
          <a:p>
            <a:pPr lvl="1"/>
            <a:r>
              <a:rPr lang="en-IN" dirty="0"/>
              <a:t>Creates an in-memory user:</a:t>
            </a:r>
          </a:p>
          <a:p>
            <a:pPr lvl="1"/>
            <a:r>
              <a:rPr lang="en-IN" dirty="0"/>
              <a:t>Username: user </a:t>
            </a:r>
          </a:p>
          <a:p>
            <a:pPr lvl="1"/>
            <a:r>
              <a:rPr lang="en-IN" dirty="0"/>
              <a:t>Password: randomly generated and printed in the startup logs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Authorization</a:t>
            </a:r>
          </a:p>
          <a:p>
            <a:pPr lvl="1"/>
            <a:r>
              <a:rPr lang="en-IN" dirty="0"/>
              <a:t>Secures all endpoints. </a:t>
            </a:r>
          </a:p>
          <a:p>
            <a:pPr lvl="1"/>
            <a:r>
              <a:rPr lang="en-IN" dirty="0"/>
              <a:t>Any request requires authentication.</a:t>
            </a:r>
          </a:p>
          <a:p>
            <a:pPr lvl="1"/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Login Mechanism</a:t>
            </a:r>
          </a:p>
          <a:p>
            <a:pPr lvl="1"/>
            <a:r>
              <a:rPr lang="en-IN" dirty="0"/>
              <a:t>Form-based login for browsers</a:t>
            </a:r>
          </a:p>
          <a:p>
            <a:pPr lvl="1"/>
            <a:r>
              <a:rPr lang="en-IN" dirty="0"/>
              <a:t>HTTP Basic authentication for API clients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0220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E825-B704-3664-61D9-944E6DFD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gets added automatically?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34DEA-4BC0-AA50-DFB9-2B6210EC6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Security Filter Chain</a:t>
            </a:r>
          </a:p>
          <a:p>
            <a:pPr lvl="1"/>
            <a:r>
              <a:rPr lang="en-IN" dirty="0"/>
              <a:t>Registers Spring Security filters automatically</a:t>
            </a:r>
          </a:p>
          <a:p>
            <a:pPr lvl="1"/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Authentication Event Publishing</a:t>
            </a:r>
          </a:p>
          <a:p>
            <a:pPr lvl="1"/>
            <a:r>
              <a:rPr lang="en-IN" dirty="0"/>
              <a:t>Configures a </a:t>
            </a:r>
            <a:r>
              <a:rPr lang="en-IN" dirty="0" err="1"/>
              <a:t>DefaultAuthenticationEventPublisher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573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3FF9-3552-2020-F3D1-CBB83840B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Auto-Configuration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36013-E901-EC58-F292-C39C62996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For Spring MVC applications, the main classes involved are:</a:t>
            </a:r>
          </a:p>
          <a:p>
            <a:pPr lvl="1"/>
            <a:r>
              <a:rPr lang="en-IN" dirty="0" err="1"/>
              <a:t>SecurityAutoConfiguration</a:t>
            </a:r>
            <a:r>
              <a:rPr lang="en-IN" dirty="0"/>
              <a:t> </a:t>
            </a:r>
          </a:p>
          <a:p>
            <a:pPr lvl="1"/>
            <a:r>
              <a:rPr lang="en-IN" dirty="0" err="1"/>
              <a:t>UserDetailsServiceAutoConfiguration</a:t>
            </a:r>
            <a:r>
              <a:rPr lang="en-IN" dirty="0"/>
              <a:t> 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dirty="0"/>
              <a:t>These classes create the default security setup when no custom security beans are provided.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561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57289-B028-5DA3-A160-3412F50F9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Override the Default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28DA5-F944-58E2-D7DB-415D2A919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314"/>
            <a:ext cx="10515600" cy="458764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The recommended approach in modern Spring Security is to provide a </a:t>
            </a:r>
            <a:r>
              <a:rPr lang="en-IN" dirty="0" err="1"/>
              <a:t>SecurityFilterChain</a:t>
            </a:r>
            <a:r>
              <a:rPr lang="en-IN" dirty="0"/>
              <a:t> bean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Once a </a:t>
            </a:r>
            <a:r>
              <a:rPr lang="en-IN" dirty="0" err="1"/>
              <a:t>SecurityFilterChain</a:t>
            </a:r>
            <a:r>
              <a:rPr lang="en-IN" dirty="0"/>
              <a:t> bean is defined, Spring Boot's default web security configuration backs off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1A5A7-8A62-E106-9D0B-54C377394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729" y="3574074"/>
            <a:ext cx="8050390" cy="313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64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8FC42-73E7-F312-A212-62E45ECB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Disable the Default User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81C40C1-F6A3-0C3D-BD31-41E4D0ABD0E2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990599" y="2675392"/>
            <a:ext cx="9884907" cy="310492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7DE0F36-D851-FAFB-5A71-64351C7FB573}"/>
              </a:ext>
            </a:extLst>
          </p:cNvPr>
          <p:cNvSpPr/>
          <p:nvPr/>
        </p:nvSpPr>
        <p:spPr>
          <a:xfrm>
            <a:off x="615380" y="1658031"/>
            <a:ext cx="10635343" cy="9579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If you define any of these beans yourself Spring Boot stops creating the default in-memory user and generated password</a:t>
            </a:r>
          </a:p>
        </p:txBody>
      </p:sp>
    </p:spTree>
    <p:extLst>
      <p:ext uri="{BB962C8B-B14F-4D97-AF65-F5344CB8AC3E}">
        <p14:creationId xmlns:p14="http://schemas.microsoft.com/office/powerpoint/2010/main" val="4043388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BBA9FF-F3B8-59D3-5D3B-3CB264CAF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89013D7-FF1A-B3B0-0642-45797BC30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67670"/>
            <a:ext cx="9307286" cy="416304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EB0A91F-0B90-2465-24D6-271511A8BEF7}"/>
              </a:ext>
            </a:extLst>
          </p:cNvPr>
          <p:cNvSpPr/>
          <p:nvPr/>
        </p:nvSpPr>
        <p:spPr>
          <a:xfrm>
            <a:off x="838200" y="1360714"/>
            <a:ext cx="9307286" cy="8055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 the following code, the default generated user is no longer created</a:t>
            </a:r>
          </a:p>
        </p:txBody>
      </p:sp>
    </p:spTree>
    <p:extLst>
      <p:ext uri="{BB962C8B-B14F-4D97-AF65-F5344CB8AC3E}">
        <p14:creationId xmlns:p14="http://schemas.microsoft.com/office/powerpoint/2010/main" val="3464889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7203-725A-2CB0-96C7-FD8CF88E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A8293-032C-33AE-9563-19206CA7A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Spring Boot automatically </a:t>
            </a:r>
          </a:p>
          <a:p>
            <a:pPr lvl="1"/>
            <a:r>
              <a:rPr lang="en-IN" dirty="0"/>
              <a:t>configures Spring Security, secures all endpoints, </a:t>
            </a:r>
          </a:p>
          <a:p>
            <a:pPr lvl="1"/>
            <a:r>
              <a:rPr lang="en-IN" dirty="0"/>
              <a:t>creates a default in-memory user with a generated password, </a:t>
            </a:r>
          </a:p>
          <a:p>
            <a:pPr lvl="1"/>
            <a:r>
              <a:rPr lang="en-IN" dirty="0"/>
              <a:t>enables form login/HTTP Basic authentication, and </a:t>
            </a:r>
          </a:p>
          <a:p>
            <a:pPr lvl="1"/>
            <a:r>
              <a:rPr lang="en-IN" dirty="0"/>
              <a:t>registers the necessary security filter chain. </a:t>
            </a:r>
          </a:p>
          <a:p>
            <a:pPr lvl="1"/>
            <a:endParaRPr lang="en-IN" dirty="0"/>
          </a:p>
          <a:p>
            <a:r>
              <a:rPr lang="en-IN" dirty="0"/>
              <a:t>The configuration can be customized or replaced by defining beans such as </a:t>
            </a:r>
            <a:r>
              <a:rPr lang="en-IN" dirty="0" err="1"/>
              <a:t>SecurityFilterChain</a:t>
            </a:r>
            <a:r>
              <a:rPr lang="en-IN" dirty="0"/>
              <a:t> or </a:t>
            </a:r>
            <a:r>
              <a:rPr lang="en-IN" dirty="0" err="1"/>
              <a:t>UserDetailsService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1091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762</Words>
  <Application>Microsoft Office PowerPoint</Application>
  <PresentationFormat>Widescreen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Wingdings</vt:lpstr>
      <vt:lpstr>Office Theme</vt:lpstr>
      <vt:lpstr>Spring Security Architecture</vt:lpstr>
      <vt:lpstr>Core Components in Spring Security Architecture</vt:lpstr>
      <vt:lpstr>Security Filter Chain</vt:lpstr>
      <vt:lpstr>SecurityFilterChain Bean </vt:lpstr>
      <vt:lpstr>Basic Configuration</vt:lpstr>
      <vt:lpstr>HTTP Basic Authentication [Useful for RESTful APIs]</vt:lpstr>
      <vt:lpstr>Authentication Manager</vt:lpstr>
      <vt:lpstr>Authentication Providers</vt:lpstr>
      <vt:lpstr>UserDetailsService</vt:lpstr>
      <vt:lpstr>Password Encoder</vt:lpstr>
      <vt:lpstr>Security Context Holder</vt:lpstr>
      <vt:lpstr>How Spring Security Works Internally</vt:lpstr>
      <vt:lpstr>Spring Boot Security Auto-Configuration</vt:lpstr>
      <vt:lpstr>Introduction</vt:lpstr>
      <vt:lpstr>What gets added automatically?</vt:lpstr>
      <vt:lpstr>What gets added automatically?</vt:lpstr>
      <vt:lpstr>Auto-Configuration Classes</vt:lpstr>
      <vt:lpstr>How to Override the Default Configuration</vt:lpstr>
      <vt:lpstr>How to Disable the Default User</vt:lpstr>
      <vt:lpstr>Example: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Joydip Mondal</dc:creator>
  <cp:lastModifiedBy>Joydip Mondal</cp:lastModifiedBy>
  <cp:revision>39</cp:revision>
  <dcterms:created xsi:type="dcterms:W3CDTF">2026-06-15T14:59:15Z</dcterms:created>
  <dcterms:modified xsi:type="dcterms:W3CDTF">2026-06-22T16:53:31Z</dcterms:modified>
</cp:coreProperties>
</file>